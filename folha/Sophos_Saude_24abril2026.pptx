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7" r:id="rId4"/>
    <p:sldId id="262" r:id="rId5"/>
    <p:sldId id="263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772392-BA83-4AC4-9C05-DC826C5AF36B}" v="4" dt="2026-05-18T23:29:36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75" d="100"/>
          <a:sy n="175" d="100"/>
        </p:scale>
        <p:origin x="110" y="41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Barcelos" userId="aa523db73d5cf893" providerId="LiveId" clId="{C23DB124-700B-4260-ABE4-40232E37AC30}"/>
    <pc:docChg chg="undo custSel addSld delSld modSld">
      <pc:chgData name="Victor Barcelos" userId="aa523db73d5cf893" providerId="LiveId" clId="{C23DB124-700B-4260-ABE4-40232E37AC30}" dt="2026-05-18T23:32:20.224" v="382" actId="6549"/>
      <pc:docMkLst>
        <pc:docMk/>
      </pc:docMkLst>
      <pc:sldChg chg="del">
        <pc:chgData name="Victor Barcelos" userId="aa523db73d5cf893" providerId="LiveId" clId="{C23DB124-700B-4260-ABE4-40232E37AC30}" dt="2026-05-18T22:56:12.336" v="144" actId="47"/>
        <pc:sldMkLst>
          <pc:docMk/>
          <pc:sldMk cId="0" sldId="257"/>
        </pc:sldMkLst>
      </pc:sldChg>
      <pc:sldChg chg="del">
        <pc:chgData name="Victor Barcelos" userId="aa523db73d5cf893" providerId="LiveId" clId="{C23DB124-700B-4260-ABE4-40232E37AC30}" dt="2026-05-18T22:56:12.336" v="144" actId="47"/>
        <pc:sldMkLst>
          <pc:docMk/>
          <pc:sldMk cId="0" sldId="258"/>
        </pc:sldMkLst>
      </pc:sldChg>
      <pc:sldChg chg="del">
        <pc:chgData name="Victor Barcelos" userId="aa523db73d5cf893" providerId="LiveId" clId="{C23DB124-700B-4260-ABE4-40232E37AC30}" dt="2026-05-18T22:56:16.438" v="145" actId="47"/>
        <pc:sldMkLst>
          <pc:docMk/>
          <pc:sldMk cId="0" sldId="259"/>
        </pc:sldMkLst>
      </pc:sldChg>
      <pc:sldChg chg="addSp delSp modSp del mod">
        <pc:chgData name="Victor Barcelos" userId="aa523db73d5cf893" providerId="LiveId" clId="{C23DB124-700B-4260-ABE4-40232E37AC30}" dt="2026-05-18T23:31:23.070" v="367"/>
        <pc:sldMkLst>
          <pc:docMk/>
          <pc:sldMk cId="0" sldId="261"/>
        </pc:sldMkLst>
        <pc:spChg chg="mod">
          <ac:chgData name="Victor Barcelos" userId="aa523db73d5cf893" providerId="LiveId" clId="{C23DB124-700B-4260-ABE4-40232E37AC30}" dt="2026-05-18T23:26:51.377" v="170" actId="20577"/>
          <ac:spMkLst>
            <pc:docMk/>
            <pc:sldMk cId="0" sldId="261"/>
            <ac:spMk id="30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29:24.923" v="209" actId="6549"/>
          <ac:spMkLst>
            <pc:docMk/>
            <pc:sldMk cId="0" sldId="261"/>
            <ac:spMk id="36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27:41.846" v="200" actId="20577"/>
          <ac:spMkLst>
            <pc:docMk/>
            <pc:sldMk cId="0" sldId="261"/>
            <ac:spMk id="37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67" v="146"/>
          <ac:spMkLst>
            <pc:docMk/>
            <pc:sldMk cId="0" sldId="261"/>
            <ac:spMk id="40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69" v="147"/>
          <ac:spMkLst>
            <pc:docMk/>
            <pc:sldMk cId="0" sldId="261"/>
            <ac:spMk id="41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0" v="148"/>
          <ac:spMkLst>
            <pc:docMk/>
            <pc:sldMk cId="0" sldId="261"/>
            <ac:spMk id="42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0" v="149"/>
          <ac:spMkLst>
            <pc:docMk/>
            <pc:sldMk cId="0" sldId="261"/>
            <ac:spMk id="43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1" v="150"/>
          <ac:spMkLst>
            <pc:docMk/>
            <pc:sldMk cId="0" sldId="261"/>
            <ac:spMk id="44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1" v="151"/>
          <ac:spMkLst>
            <pc:docMk/>
            <pc:sldMk cId="0" sldId="261"/>
            <ac:spMk id="45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1" v="152"/>
          <ac:spMkLst>
            <pc:docMk/>
            <pc:sldMk cId="0" sldId="261"/>
            <ac:spMk id="46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2" v="153"/>
          <ac:spMkLst>
            <pc:docMk/>
            <pc:sldMk cId="0" sldId="261"/>
            <ac:spMk id="47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2" v="154"/>
          <ac:spMkLst>
            <pc:docMk/>
            <pc:sldMk cId="0" sldId="261"/>
            <ac:spMk id="48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3" v="155"/>
          <ac:spMkLst>
            <pc:docMk/>
            <pc:sldMk cId="0" sldId="261"/>
            <ac:spMk id="49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3" v="156"/>
          <ac:spMkLst>
            <pc:docMk/>
            <pc:sldMk cId="0" sldId="261"/>
            <ac:spMk id="50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3" v="157"/>
          <ac:spMkLst>
            <pc:docMk/>
            <pc:sldMk cId="0" sldId="261"/>
            <ac:spMk id="51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4" v="158"/>
          <ac:spMkLst>
            <pc:docMk/>
            <pc:sldMk cId="0" sldId="261"/>
            <ac:spMk id="52" creationId="{00000000-0000-0000-0000-000000000000}"/>
          </ac:spMkLst>
        </pc:spChg>
        <pc:spChg chg="del">
          <ac:chgData name="Victor Barcelos" userId="aa523db73d5cf893" providerId="LiveId" clId="{C23DB124-700B-4260-ABE4-40232E37AC30}" dt="2026-05-18T22:58:56.974" v="159"/>
          <ac:spMkLst>
            <pc:docMk/>
            <pc:sldMk cId="0" sldId="261"/>
            <ac:spMk id="53" creationId="{00000000-0000-0000-0000-000000000000}"/>
          </ac:spMkLst>
        </pc:spChg>
        <pc:spChg chg="add del mod">
          <ac:chgData name="Victor Barcelos" userId="aa523db73d5cf893" providerId="LiveId" clId="{C23DB124-700B-4260-ABE4-40232E37AC30}" dt="2026-05-18T23:29:54.937" v="211" actId="1076"/>
          <ac:spMkLst>
            <pc:docMk/>
            <pc:sldMk cId="0" sldId="261"/>
            <ac:spMk id="54" creationId="{00000000-0000-0000-0000-000000000000}"/>
          </ac:spMkLst>
        </pc:spChg>
        <pc:spChg chg="add del mod">
          <ac:chgData name="Victor Barcelos" userId="aa523db73d5cf893" providerId="LiveId" clId="{C23DB124-700B-4260-ABE4-40232E37AC30}" dt="2026-05-18T23:28:03.410" v="207" actId="47"/>
          <ac:spMkLst>
            <pc:docMk/>
            <pc:sldMk cId="0" sldId="261"/>
            <ac:spMk id="55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0:50.675" v="365" actId="20577"/>
          <ac:spMkLst>
            <pc:docMk/>
            <pc:sldMk cId="0" sldId="261"/>
            <ac:spMk id="56" creationId="{00000000-0000-0000-0000-000000000000}"/>
          </ac:spMkLst>
        </pc:spChg>
      </pc:sldChg>
      <pc:sldChg chg="modSp add mod">
        <pc:chgData name="Victor Barcelos" userId="aa523db73d5cf893" providerId="LiveId" clId="{C23DB124-700B-4260-ABE4-40232E37AC30}" dt="2026-05-18T23:32:20.224" v="382" actId="6549"/>
        <pc:sldMkLst>
          <pc:docMk/>
          <pc:sldMk cId="3664155059" sldId="267"/>
        </pc:sldMkLst>
        <pc:spChg chg="mod">
          <ac:chgData name="Victor Barcelos" userId="aa523db73d5cf893" providerId="LiveId" clId="{C23DB124-700B-4260-ABE4-40232E37AC30}" dt="2026-05-18T23:31:38.159" v="370" actId="1076"/>
          <ac:spMkLst>
            <pc:docMk/>
            <pc:sldMk cId="3664155059" sldId="267"/>
            <ac:spMk id="4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1:38.159" v="370" actId="1076"/>
          <ac:spMkLst>
            <pc:docMk/>
            <pc:sldMk cId="3664155059" sldId="267"/>
            <ac:spMk id="12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1:38.159" v="370" actId="1076"/>
          <ac:spMkLst>
            <pc:docMk/>
            <pc:sldMk cId="3664155059" sldId="267"/>
            <ac:spMk id="13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1:38.159" v="370" actId="1076"/>
          <ac:spMkLst>
            <pc:docMk/>
            <pc:sldMk cId="3664155059" sldId="267"/>
            <ac:spMk id="15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1:38.159" v="370" actId="1076"/>
          <ac:spMkLst>
            <pc:docMk/>
            <pc:sldMk cId="3664155059" sldId="267"/>
            <ac:spMk id="28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1:38.159" v="370" actId="1076"/>
          <ac:spMkLst>
            <pc:docMk/>
            <pc:sldMk cId="3664155059" sldId="267"/>
            <ac:spMk id="33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1:38.159" v="370" actId="1076"/>
          <ac:spMkLst>
            <pc:docMk/>
            <pc:sldMk cId="3664155059" sldId="267"/>
            <ac:spMk id="38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2:09.323" v="380" actId="207"/>
          <ac:spMkLst>
            <pc:docMk/>
            <pc:sldMk cId="3664155059" sldId="267"/>
            <ac:spMk id="54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1:59.689" v="378" actId="1076"/>
          <ac:spMkLst>
            <pc:docMk/>
            <pc:sldMk cId="3664155059" sldId="267"/>
            <ac:spMk id="55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2:00.229" v="379" actId="207"/>
          <ac:spMkLst>
            <pc:docMk/>
            <pc:sldMk cId="3664155059" sldId="267"/>
            <ac:spMk id="56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2:17.577" v="381" actId="6549"/>
          <ac:spMkLst>
            <pc:docMk/>
            <pc:sldMk cId="3664155059" sldId="267"/>
            <ac:spMk id="57" creationId="{00000000-0000-0000-0000-000000000000}"/>
          </ac:spMkLst>
        </pc:spChg>
        <pc:spChg chg="mod">
          <ac:chgData name="Victor Barcelos" userId="aa523db73d5cf893" providerId="LiveId" clId="{C23DB124-700B-4260-ABE4-40232E37AC30}" dt="2026-05-18T23:32:20.224" v="382" actId="6549"/>
          <ac:spMkLst>
            <pc:docMk/>
            <pc:sldMk cId="3664155059" sldId="267"/>
            <ac:spMk id="5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137160"/>
          </a:xfrm>
          <a:prstGeom prst="rect">
            <a:avLst/>
          </a:prstGeom>
          <a:solidFill>
            <a:srgbClr val="184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ophos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228600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D88FF"/>
                </a:solidFill>
                <a:latin typeface="Calibri"/>
              </a:rPr>
              <a:t>PAINEL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FEFFFF"/>
                </a:solidFill>
                <a:latin typeface="Calibri"/>
              </a:rPr>
              <a:t>CIAS · Folha · Hospitais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2D88FF"/>
                </a:solidFill>
                <a:latin typeface="Georgia"/>
              </a:rPr>
              <a:t>Três frentes para a reunião de hoje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EFFFF"/>
                </a:solidFill>
                <a:latin typeface="Georgia"/>
              </a:rPr>
              <a:t>Secretaria Municipal de Saúde de Sete Lagoas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D88FF"/>
                </a:solidFill>
                <a:latin typeface="Calibri"/>
              </a:rPr>
              <a:t>24 de abril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D88FF"/>
                </a:solidFill>
                <a:latin typeface="Calibri"/>
              </a:rPr>
              <a:t>Contrato de Gestão Sophos Governança · Prefeitura Municipal — NLC 102/2025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7A25"/>
                </a:solidFill>
                <a:latin typeface="Calibri"/>
              </a:rPr>
              <a:t>FOLHA DE PAGAMENTO —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E2841"/>
                </a:solidFill>
                <a:latin typeface="Calibri"/>
              </a:rPr>
              <a:t>R$ 20,4 mi/mês em folha ativa — mas 43% desse valor são gratificações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1188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Calibri"/>
              </a:rPr>
              <a:t>Servidores ativos (fev/2026)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FFFF"/>
                </a:solidFill>
                <a:latin typeface="Calibri"/>
              </a:rPr>
              <a:t>3.215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828800"/>
            <a:ext cx="2743200" cy="1188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Calibri"/>
              </a:rPr>
              <a:t>Folha bruta mensal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231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FFFF"/>
                </a:solidFill>
                <a:latin typeface="Calibri"/>
              </a:rPr>
              <a:t>R$ 20,4 mi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2743200" cy="1188720"/>
          </a:xfrm>
          <a:prstGeom prst="rect">
            <a:avLst/>
          </a:prstGeom>
          <a:solidFill>
            <a:srgbClr val="E8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Calibri"/>
              </a:rPr>
              <a:t>São gratificações (R$ 8,8 mi/mês)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FFFF"/>
                </a:solidFill>
                <a:latin typeface="Calibri"/>
              </a:rPr>
              <a:t>43%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828800"/>
            <a:ext cx="2560320" cy="1188720"/>
          </a:xfrm>
          <a:prstGeom prst="rect">
            <a:avLst/>
          </a:prstGeom>
          <a:solidFill>
            <a:srgbClr val="E8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20116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Calibri"/>
              </a:rPr>
              <a:t>Gratificações anualizadas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42316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FFFF"/>
                </a:solidFill>
                <a:latin typeface="Calibri"/>
              </a:rPr>
              <a:t>R$ 106 mi</a:t>
            </a:r>
          </a:p>
        </p:txBody>
      </p:sp>
      <p:pic>
        <p:nvPicPr>
          <p:cNvPr id="17" name="Picture 16" descr="gratif_por_lei_marimekk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91840"/>
            <a:ext cx="7315200" cy="27432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955279" y="3291840"/>
            <a:ext cx="3931920" cy="27432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79" y="3291840"/>
            <a:ext cx="73152" cy="2743200"/>
          </a:xfrm>
          <a:prstGeom prst="rect">
            <a:avLst/>
          </a:prstGeom>
          <a:solidFill>
            <a:srgbClr val="E8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79" y="34290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E2841"/>
                </a:solidFill>
                <a:latin typeface="Calibri"/>
              </a:rPr>
              <a:t>O QUE ISSO SIGNIFICA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794760"/>
            <a:ext cx="35661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11E26"/>
                </a:solidFill>
                <a:latin typeface="Calibri"/>
              </a:rPr>
              <a:t>O "vencimento base" é ponto de partida, não o valor efetivo pago.</a:t>
            </a:r>
          </a:p>
          <a:p>
            <a:pPr algn="l"/>
            <a:endParaRPr sz="11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1E26"/>
                </a:solidFill>
                <a:latin typeface="Calibri"/>
              </a:rPr>
              <a:t>Para muitos servidores — especialmente médicos temporários — as gratificações representam 80% a 99% da remuneração mensal.</a:t>
            </a:r>
          </a:p>
          <a:p>
            <a:pPr algn="l"/>
            <a:endParaRPr sz="11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1E26"/>
                </a:solidFill>
                <a:latin typeface="Calibri"/>
              </a:rPr>
              <a:t>Isso significa que auditar a folha é auditar as GRATIFICAÇÕES.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alibri"/>
              </a:rPr>
              <a:t>Sophos Governança  ·  SMS Sete Lagoas  ·  24 de abril de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525252"/>
                </a:solidFill>
                <a:latin typeface="Calibri"/>
              </a:rPr>
              <a:t>5 / 10</a:t>
            </a:r>
          </a:p>
        </p:txBody>
      </p:sp>
      <p:pic>
        <p:nvPicPr>
          <p:cNvPr id="24" name="Picture 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6355080"/>
            <a:ext cx="11887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5693"/>
            <a:ext cx="12191695" cy="1371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pzer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945" y="314347"/>
            <a:ext cx="1097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7A25"/>
                </a:solidFill>
                <a:latin typeface="Napzer" pitchFamily="2" charset="0"/>
              </a:rPr>
              <a:t>FOLHA — SEIS PONTOS PARA INVESTIGAÇÃO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945" y="588667"/>
            <a:ext cx="1115568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E2841"/>
                </a:solidFill>
                <a:latin typeface="Napzer" pitchFamily="2" charset="0"/>
              </a:rPr>
              <a:t>A folha de pagamento merece atenção quanto ao embasamento das rubricas que estão sendo pagas</a:t>
            </a:r>
            <a:endParaRPr sz="2200" b="1" dirty="0">
              <a:solidFill>
                <a:srgbClr val="0E2841"/>
              </a:solidFill>
              <a:latin typeface="Napzer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945" y="1731667"/>
            <a:ext cx="11064240" cy="4114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pzer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385" y="1823107"/>
            <a:ext cx="2743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Napzer" pitchFamily="2" charset="0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585" y="1823107"/>
            <a:ext cx="34747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Napzer" pitchFamily="2" charset="0"/>
              </a:rPr>
              <a:t>Ponto suspeito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5185" y="1823107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Napzer" pitchFamily="2" charset="0"/>
              </a:rPr>
              <a:t>Servidores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905" y="1823107"/>
            <a:ext cx="1828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Napzer" pitchFamily="2" charset="0"/>
              </a:rPr>
              <a:t>Valor em jogo/ano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585" y="1823107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Napzer" pitchFamily="2" charset="0"/>
              </a:rPr>
              <a:t>Base legal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3105" y="1823107"/>
            <a:ext cx="5486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Napzer" pitchFamily="2" charset="0"/>
              </a:rPr>
              <a:t>Risco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945" y="2143147"/>
            <a:ext cx="11064240" cy="502920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pzer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385" y="2252875"/>
            <a:ext cx="2743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E2841"/>
                </a:solidFill>
                <a:latin typeface="Napzer" pitchFamily="2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585" y="2252875"/>
            <a:ext cx="3474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Napzer" pitchFamily="2" charset="0"/>
              </a:rPr>
              <a:t>Rubrica 0153 · Reposição Salarial — ato instituidor não localizado em busca pública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5185" y="2252875"/>
            <a:ext cx="10058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E2841"/>
                </a:solidFill>
                <a:latin typeface="Napzer" pitchFamily="2" charset="0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905" y="2252875"/>
            <a:ext cx="1828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2841"/>
                </a:solidFill>
                <a:latin typeface="Napzer" pitchFamily="2" charset="0"/>
              </a:rPr>
              <a:t>R$ 1,3 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585" y="2252875"/>
            <a:ext cx="28346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Napzer" pitchFamily="2" charset="0"/>
              </a:rPr>
              <a:t>CF/88 art. 37 X; LC 285/23 art. 9º §ú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3105" y="2252875"/>
            <a:ext cx="5486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C3333"/>
                </a:solidFill>
                <a:latin typeface="Napzer" pitchFamily="2" charset="0"/>
              </a:rPr>
              <a:t>ALTO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945" y="2646067"/>
            <a:ext cx="11064240" cy="5029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pzer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385" y="2755795"/>
            <a:ext cx="2743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E2841"/>
                </a:solidFill>
                <a:latin typeface="Napzer" pitchFamily="2" charset="0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585" y="2755795"/>
            <a:ext cx="3474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Napzer" pitchFamily="2" charset="0"/>
              </a:rPr>
              <a:t>Rubrica 0317 · 40% provado matematicamente; suspenso pelo TJMG em 2021; Lei 9.288 regulamentou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5185" y="2755795"/>
            <a:ext cx="10058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E2841"/>
                </a:solidFill>
                <a:latin typeface="Napzer" pitchFamily="2" charset="0"/>
              </a:rPr>
              <a:t>1.567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905" y="2755795"/>
            <a:ext cx="1828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E2841"/>
                </a:solidFill>
                <a:latin typeface="Napzer" pitchFamily="2" charset="0"/>
              </a:rPr>
              <a:t>R$ 1,29 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585" y="2755795"/>
            <a:ext cx="28346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Napzer" pitchFamily="2" charset="0"/>
              </a:rPr>
              <a:t>CF/88 art. 37 XIV; LC 183/15 art. 17 IV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3105" y="2755795"/>
            <a:ext cx="5486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CC3333"/>
                </a:solidFill>
                <a:latin typeface="Napzer" pitchFamily="2" charset="0"/>
              </a:rPr>
              <a:t>ALTO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945" y="3148987"/>
            <a:ext cx="11064240" cy="502920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pzer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385" y="3258715"/>
            <a:ext cx="2743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0E2841"/>
                </a:solidFill>
                <a:latin typeface="Napzer" pitchFamily="2" charset="0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585" y="3258715"/>
            <a:ext cx="34747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Napzer" pitchFamily="2" charset="0"/>
              </a:rPr>
              <a:t>Acúmulo Efetivo + Temporário — STF Tema 1.081 afastou limite de 60h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5185" y="3258715"/>
            <a:ext cx="10058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E2841"/>
                </a:solidFill>
                <a:latin typeface="Napzer" pitchFamily="2" charset="0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905" y="3258715"/>
            <a:ext cx="1828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900" b="1" dirty="0">
                <a:solidFill>
                  <a:srgbClr val="0E2841"/>
                </a:solidFill>
                <a:latin typeface="Napzer" pitchFamily="2" charset="0"/>
              </a:rPr>
              <a:t>R$ 1,05 mi</a:t>
            </a:r>
            <a:endParaRPr sz="900" b="1" dirty="0">
              <a:solidFill>
                <a:srgbClr val="0E2841"/>
              </a:solidFill>
              <a:latin typeface="Napzer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55585" y="3258715"/>
            <a:ext cx="28346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Napzer" pitchFamily="2" charset="0"/>
              </a:rPr>
              <a:t>CF/88 art. 37 XVI; ARE 1.246.685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3105" y="3258715"/>
            <a:ext cx="5486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E87A25"/>
                </a:solidFill>
                <a:latin typeface="Napzer" pitchFamily="2" charset="0"/>
              </a:rPr>
              <a:t>MÉDIO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945" y="3651907"/>
            <a:ext cx="11064240" cy="5029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pzer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385" y="3761635"/>
            <a:ext cx="2743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E2841"/>
                </a:solidFill>
                <a:latin typeface="Napzer" pitchFamily="2" charset="0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585" y="3761635"/>
            <a:ext cx="34747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Napzer" pitchFamily="2" charset="0"/>
              </a:rPr>
              <a:t>Horas extras — folha tem carga horária; preço-hora a auditar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5185" y="3761635"/>
            <a:ext cx="10058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0E2841"/>
                </a:solidFill>
                <a:latin typeface="Napzer" pitchFamily="2" charset="0"/>
              </a:rPr>
              <a:t>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905" y="3761635"/>
            <a:ext cx="1828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900" b="1" dirty="0">
                <a:solidFill>
                  <a:srgbClr val="0E2841"/>
                </a:solidFill>
                <a:latin typeface="Napzer" pitchFamily="2" charset="0"/>
              </a:rPr>
              <a:t>R$ 2,24 mi</a:t>
            </a:r>
            <a:endParaRPr sz="900" b="1" dirty="0">
              <a:solidFill>
                <a:srgbClr val="0E2841"/>
              </a:solidFill>
              <a:latin typeface="Napzer" pitchFamily="2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55585" y="3761635"/>
            <a:ext cx="28346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Napzer" pitchFamily="2" charset="0"/>
              </a:rPr>
              <a:t>LC 183/15 art. 12 §5º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3105" y="3761635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E87A25"/>
                </a:solidFill>
                <a:latin typeface="Napzer" pitchFamily="2" charset="0"/>
              </a:rPr>
              <a:t>MÉDIO-BAIXO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945" y="5480707"/>
            <a:ext cx="11064240" cy="82296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Napzer" pitchFamily="2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7545" y="5572147"/>
            <a:ext cx="10607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100" b="1" dirty="0">
              <a:solidFill>
                <a:srgbClr val="2D88FF"/>
              </a:solidFill>
              <a:latin typeface="Napzer" pitchFamily="2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77545" y="5634557"/>
            <a:ext cx="106070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dirty="0">
                <a:solidFill>
                  <a:srgbClr val="FEFFFF"/>
                </a:solidFill>
                <a:latin typeface="Napzer" pitchFamily="2" charset="0"/>
              </a:rPr>
              <a:t>Potencial de redução de 5,88 milhões de reais ao ano. Quase 15 milhões até o fim do mandato!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6065" y="6486547"/>
            <a:ext cx="8229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525252"/>
                </a:solidFill>
                <a:latin typeface="Napzer" pitchFamily="2" charset="0"/>
              </a:rPr>
              <a:t>Sophos </a:t>
            </a:r>
            <a:r>
              <a:rPr sz="900" b="0" dirty="0" err="1">
                <a:solidFill>
                  <a:srgbClr val="525252"/>
                </a:solidFill>
                <a:latin typeface="Napzer" pitchFamily="2" charset="0"/>
              </a:rPr>
              <a:t>Governança</a:t>
            </a:r>
            <a:r>
              <a:rPr sz="900" b="0" dirty="0">
                <a:solidFill>
                  <a:srgbClr val="525252"/>
                </a:solidFill>
                <a:latin typeface="Napzer" pitchFamily="2" charset="0"/>
              </a:rPr>
              <a:t>  ·  SMS Sete Lagoas  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585" y="6486547"/>
            <a:ext cx="13716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sz="900" b="0" dirty="0">
              <a:solidFill>
                <a:srgbClr val="525252"/>
              </a:solidFill>
              <a:latin typeface="Napzer" pitchFamily="2" charset="0"/>
            </a:endParaRPr>
          </a:p>
        </p:txBody>
      </p:sp>
      <p:pic>
        <p:nvPicPr>
          <p:cNvPr id="59" name="Picture 5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960" y="6349387"/>
            <a:ext cx="11887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5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7A25"/>
                </a:solidFill>
                <a:latin typeface="Calibri"/>
              </a:rPr>
              <a:t>FOLHA — DILIGÊNCIAS IMEDIATAS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E2841"/>
                </a:solidFill>
                <a:latin typeface="Calibri"/>
              </a:rPr>
              <a:t>Um único ofício à Procuradoria Municipal abre os três pontos de maior certeza — sem suspender pagamentos e sem antecipar juízo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749039" cy="13716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291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EFFF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EFFFF"/>
                </a:solidFill>
                <a:latin typeface="Calibri"/>
              </a:rPr>
              <a:t>Rubrica 0153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FEFFFF"/>
                </a:solidFill>
                <a:latin typeface="Calibri"/>
              </a:rPr>
              <a:t>Verba indenizatória sem lei citada na rubrica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3749039" cy="27432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25252"/>
                </a:solidFill>
                <a:latin typeface="Calibri"/>
              </a:rPr>
              <a:t>VALOR EM JOGO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3291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E2841"/>
                </a:solidFill>
                <a:latin typeface="Calibri"/>
              </a:rPr>
              <a:t>R$ 1,3 mi/ano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329183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21 servidores — destaque para 4 Fiscais da Vigilância Sanitária com R$ 15.000 mensais idênticos (incompatível com decisões judiciais individuais).</a:t>
            </a:r>
          </a:p>
          <a:p>
            <a:pPr algn="l"/>
            <a:endParaRPr sz="10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Pedido à Procuradoria: levantar o ato instituidor caso a caso; propor regularização prospectiva onde não houver fundamento.</a:t>
            </a:r>
          </a:p>
          <a:p>
            <a:pPr algn="l"/>
            <a:endParaRPr sz="10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Prazo: 60 dias.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39" y="1828800"/>
            <a:ext cx="3749039" cy="1371600"/>
          </a:xfrm>
          <a:prstGeom prst="rect">
            <a:avLst/>
          </a:prstGeom>
          <a:solidFill>
            <a:srgbClr val="E87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39" y="1965960"/>
            <a:ext cx="3291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EFFFF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514600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EFFFF"/>
                </a:solidFill>
                <a:latin typeface="Calibri"/>
              </a:rPr>
              <a:t>Rubrica 0317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880360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FEFFFF"/>
                </a:solidFill>
                <a:latin typeface="Calibri"/>
              </a:rPr>
              <a:t>40% provado matematicamente; suspenso pelo TJMG em 2021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39" y="3200400"/>
            <a:ext cx="3749039" cy="27432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39" y="3383280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25252"/>
                </a:solidFill>
                <a:latin typeface="Calibri"/>
              </a:rPr>
              <a:t>VALOR EM JOGO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3657600"/>
            <a:ext cx="3291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E2841"/>
                </a:solidFill>
                <a:latin typeface="Calibri"/>
              </a:rPr>
              <a:t>R$ 1,29 mi/ano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4297680"/>
            <a:ext cx="329183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1.567 servidores. R$ 648,40 = 40% × R$ 1.621 (venc. básico Padrão I) aparece em 70% dos beneficiários.</a:t>
            </a:r>
          </a:p>
          <a:p>
            <a:pPr algn="l"/>
            <a:endParaRPr sz="10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A gratificação foi suspensa pelo TJMG em 2021 por ação do MP; a Lei Municipal 9.288 regulamentou depois.</a:t>
            </a:r>
          </a:p>
          <a:p>
            <a:pPr algn="l"/>
            <a:endParaRPr sz="10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Pedido à Procuradoria: LC 190/2016, acórdão TJMG 2021, Lei 9.288 e parecer sobre qual é hoje a base legal.</a:t>
            </a:r>
          </a:p>
          <a:p>
            <a:pPr algn="l"/>
            <a:endParaRPr sz="10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Prazo: 60 dias.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38" y="1828800"/>
            <a:ext cx="3749039" cy="13716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9638" y="1965960"/>
            <a:ext cx="3291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EFFFF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38" y="2514600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EFFFF"/>
                </a:solidFill>
                <a:latin typeface="Calibri"/>
              </a:rPr>
              <a:t>Contrato 188/2025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38" y="2880360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FEFFFF"/>
                </a:solidFill>
                <a:latin typeface="Calibri"/>
              </a:rPr>
              <a:t>Pessoa física, R$ 4.999.999,99 (R$ 0,01 abaixo do teto)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38" y="3200400"/>
            <a:ext cx="3749039" cy="27432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38" y="3383280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25252"/>
                </a:solidFill>
                <a:latin typeface="Calibri"/>
              </a:rPr>
              <a:t>VALOR EM JOGO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38" y="3657600"/>
            <a:ext cx="3291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E2841"/>
                </a:solidFill>
                <a:latin typeface="Calibri"/>
              </a:rPr>
              <a:t>R$ 1-5 mi (único)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38" y="4297680"/>
            <a:ext cx="329183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Fornecimento de OPMEs consignado por pessoa física.</a:t>
            </a:r>
          </a:p>
          <a:p>
            <a:pPr algn="l"/>
            <a:endParaRPr sz="10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Três contratos com o mesmo fornecedor em 2025 somam R$ 5,65 mi — cabe análise de eventual fracionamento e de vínculos societários com PJ do ramo.</a:t>
            </a:r>
          </a:p>
          <a:p>
            <a:pPr algn="l"/>
            <a:endParaRPr sz="10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Pedido à Procuradoria + Auditoria Interna + SEMUG.</a:t>
            </a:r>
          </a:p>
          <a:p>
            <a:pPr algn="l"/>
            <a:endParaRPr sz="10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211E26"/>
                </a:solidFill>
                <a:latin typeface="Calibri"/>
              </a:rPr>
              <a:t>Prazo: 90 dias.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EFFFF"/>
                </a:solidFill>
                <a:latin typeface="Calibri"/>
              </a:rPr>
              <a:t>UM ÚNICO ofício do Secretário à Procuradoria cobre os três pontos — decisão que cabe em 15 minutos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alibri"/>
              </a:rPr>
              <a:t>Sophos Governança  ·  SMS Sete Lagoas  ·  24 de abril de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525252"/>
                </a:solidFill>
                <a:latin typeface="Calibri"/>
              </a:rPr>
              <a:t>7 / 10</a:t>
            </a:r>
          </a:p>
        </p:txBody>
      </p:sp>
      <p:pic>
        <p:nvPicPr>
          <p:cNvPr id="33" name="Picture 3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6355080"/>
            <a:ext cx="11887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4CF9"/>
                </a:solidFill>
                <a:latin typeface="Calibri"/>
              </a:rPr>
              <a:t>HOSPITAIS MUNICIPAIS — 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E2841"/>
                </a:solidFill>
                <a:latin typeface="Calibri"/>
              </a:rPr>
              <a:t>Dois hospitais complementares, perfis assistenciais fundamentalmente diferentes</a:t>
            </a:r>
          </a:p>
        </p:txBody>
      </p:sp>
      <p:pic>
        <p:nvPicPr>
          <p:cNvPr id="5" name="Picture 4" descr="leitos_por_gru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7315200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645920"/>
            <a:ext cx="3931920" cy="4114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0" y="171907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EFFFF"/>
                </a:solidFill>
                <a:latin typeface="Calibri"/>
              </a:rPr>
              <a:t>Resumo estrutural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103120"/>
            <a:ext cx="3931920" cy="274320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21488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Leitos totais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214884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11E26"/>
                </a:solidFill>
                <a:latin typeface="Calibri"/>
              </a:rPr>
              <a:t>141 · 204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377440"/>
            <a:ext cx="3931920" cy="2743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42316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Profissionais CNES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42316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11E26"/>
                </a:solidFill>
                <a:latin typeface="Calibri"/>
              </a:rPr>
              <a:t>922 · 2.210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651760"/>
            <a:ext cx="3931920" cy="274320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26974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Habilitações SAS/MS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69748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11E26"/>
                </a:solidFill>
                <a:latin typeface="Calibri"/>
              </a:rPr>
              <a:t>7 · 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926080"/>
            <a:ext cx="3931920" cy="2743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297180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UTI Adulto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9718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211E26"/>
                </a:solidFill>
                <a:latin typeface="Calibri"/>
              </a:rPr>
              <a:t>19 · 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3200400"/>
            <a:ext cx="3931920" cy="274320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01000" y="32461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UTI Neonatal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24612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CC3333"/>
                </a:solidFill>
                <a:latin typeface="Calibri"/>
              </a:rPr>
              <a:t>0 · 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474720"/>
            <a:ext cx="3931920" cy="2743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35204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UTI Pediátrica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52044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CC3333"/>
                </a:solidFill>
                <a:latin typeface="Calibri"/>
              </a:rPr>
              <a:t>0 ·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749040"/>
            <a:ext cx="3931920" cy="274320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01000" y="379476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UCO Coronariana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79476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CC3333"/>
                </a:solidFill>
                <a:latin typeface="Calibri"/>
              </a:rPr>
              <a:t>0 ·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4023360"/>
            <a:ext cx="3931920" cy="2743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01000" y="40690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Leitos obstétricos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406908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CC3333"/>
                </a:solidFill>
                <a:latin typeface="Calibri"/>
              </a:rPr>
              <a:t>0 · 45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4297680"/>
            <a:ext cx="3931920" cy="274320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01000" y="434340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Leitos oncológicos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43434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CC3333"/>
                </a:solidFill>
                <a:latin typeface="Calibri"/>
              </a:rPr>
              <a:t>0 · 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4572000"/>
            <a:ext cx="3931920" cy="2743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01000" y="46177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HGPAR (alto risco)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461772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CC3333"/>
                </a:solidFill>
                <a:latin typeface="Calibri"/>
              </a:rPr>
              <a:t>Não · Sim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4846320"/>
            <a:ext cx="3931920" cy="274320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0100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11E26"/>
                </a:solidFill>
                <a:latin typeface="Calibri"/>
              </a:rPr>
              <a:t>UNACON (oncologia)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489204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CC3333"/>
                </a:solidFill>
                <a:latin typeface="Calibri"/>
              </a:rPr>
              <a:t>Não · Sim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5029200"/>
            <a:ext cx="73152" cy="1280160"/>
          </a:xfrm>
          <a:prstGeom prst="rect">
            <a:avLst/>
          </a:prstGeom>
          <a:solidFill>
            <a:srgbClr val="184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" y="516636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Calibri"/>
              </a:rPr>
              <a:t>Conclusão: são HOSPITAIS COMPLEMENTARES, não concorrentes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11E26"/>
                </a:solidFill>
                <a:latin typeface="Calibri"/>
              </a:rPr>
              <a:t>O HM concentra internação clínica geral e cirurgia básica de urgência. O HNSG realiza todos os partos, toda a oncologia, toda a cardiologia intervencionista, toda a terapia renal substitutiva e opera as únicas UTIs neonatal, pediátrica e coronariana do município. Cortar escopo do HNSG significa perder capacidade assistencial insubstituível no curto prazo.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alibri"/>
              </a:rPr>
              <a:t>Sophos Governança  ·  SMS Sete Lagoas  ·  24 de abril de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525252"/>
                </a:solidFill>
                <a:latin typeface="Calibri"/>
              </a:rPr>
              <a:t>8 / 10</a:t>
            </a:r>
          </a:p>
        </p:txBody>
      </p:sp>
      <p:pic>
        <p:nvPicPr>
          <p:cNvPr id="47" name="Picture 4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6355080"/>
            <a:ext cx="11887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84CF9"/>
                </a:solidFill>
                <a:latin typeface="Calibri"/>
              </a:rPr>
              <a:t>HOSPITAIS MUNICIPAIS — MÉTRICAS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0E2841"/>
                </a:solidFill>
                <a:latin typeface="Calibri"/>
              </a:rPr>
              <a:t>HM saturado (83%) × HNSG com folga (50%) — e HM custa 15,9× mais ao caixa municipal por AIH</a:t>
            </a:r>
          </a:p>
        </p:txBody>
      </p:sp>
      <p:pic>
        <p:nvPicPr>
          <p:cNvPr id="5" name="Picture 4" descr="metricas_hospitais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777240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645920"/>
            <a:ext cx="3383280" cy="2926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1645920"/>
            <a:ext cx="73152" cy="2926080"/>
          </a:xfrm>
          <a:prstGeom prst="rect">
            <a:avLst/>
          </a:prstGeom>
          <a:solidFill>
            <a:srgbClr val="184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108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E2841"/>
                </a:solidFill>
                <a:latin typeface="Calibri"/>
              </a:rPr>
              <a:t>O QUE ISSO MOSTRA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148840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11E26"/>
                </a:solidFill>
                <a:latin typeface="Calibri"/>
              </a:rPr>
              <a:t>HM opera próximo à saturação (OMS 85%) com alto giro e casos simples (R$ 1.444/AIH).</a:t>
            </a:r>
          </a:p>
          <a:p>
            <a:pPr algn="l"/>
            <a:endParaRPr sz="11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1E26"/>
                </a:solidFill>
                <a:latin typeface="Calibri"/>
              </a:rPr>
              <a:t>HNSG tem folga de ocupação, mas faz casos mais complexos (R$ 2.051/AIH, +42%).</a:t>
            </a:r>
          </a:p>
          <a:p>
            <a:pPr algn="l"/>
            <a:endParaRPr sz="1100" b="0">
              <a:solidFill>
                <a:srgbClr val="211E26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1E26"/>
                </a:solidFill>
                <a:latin typeface="Calibri"/>
              </a:rPr>
              <a:t>A mortalidade do HM (7,94% vs 3,15%) é afetada pela saturação e pela ausência de UTIs especializadas para casos graves.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46320"/>
            <a:ext cx="3657600" cy="13716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Calibri"/>
              </a:rPr>
              <a:t>Custo PMSL por AIH no Hospital Municipal (só folha)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406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FFFF"/>
                </a:solidFill>
                <a:latin typeface="Calibri"/>
              </a:rPr>
              <a:t>R$ 6.936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4846320"/>
            <a:ext cx="3657600" cy="1371600"/>
          </a:xfrm>
          <a:prstGeom prst="rect">
            <a:avLst/>
          </a:prstGeom>
          <a:solidFill>
            <a:srgbClr val="2FA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5029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Calibri"/>
              </a:rPr>
              <a:t>Custo PMSL por AIH no HNSG (parcela municipal)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4406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FFFF"/>
                </a:solidFill>
                <a:latin typeface="Calibri"/>
              </a:rPr>
              <a:t>R$ 437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846320"/>
            <a:ext cx="3657600" cy="13716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50292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EFFFF"/>
                </a:solidFill>
                <a:latin typeface="Calibri"/>
              </a:rPr>
              <a:t>Quanto o HM custa mais ao caixa próprio por AIH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4406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EFFFF"/>
                </a:solidFill>
                <a:latin typeface="Calibri"/>
              </a:rPr>
              <a:t>15,9×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25252"/>
                </a:solidFill>
                <a:latin typeface="Calibri"/>
              </a:rPr>
              <a:t>Sophos Governança  ·  SMS Sete Lagoas  ·  24 de abril de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525252"/>
                </a:solidFill>
                <a:latin typeface="Calibri"/>
              </a:rPr>
              <a:t>9 / 10</a:t>
            </a:r>
          </a:p>
        </p:txBody>
      </p:sp>
      <p:pic>
        <p:nvPicPr>
          <p:cNvPr id="21" name="Picture 20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6355080"/>
            <a:ext cx="11887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137160"/>
          </a:xfrm>
          <a:prstGeom prst="rect">
            <a:avLst/>
          </a:prstGeom>
          <a:solidFill>
            <a:srgbClr val="184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ophos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01168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>
                <a:solidFill>
                  <a:srgbClr val="FEFFFF"/>
                </a:solidFill>
                <a:latin typeface="Calibri"/>
              </a:rPr>
              <a:t>OBRIGADO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D88FF"/>
                </a:solidFill>
                <a:latin typeface="Georgia"/>
              </a:rPr>
              <a:t>CIAS · Folha · Hospitais — três frentes, três decisões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EFFFF"/>
                </a:solidFill>
                <a:latin typeface="Calibri"/>
              </a:rPr>
              <a:t>Sete Lagoas · 24 de abril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D88FF"/>
                </a:solidFill>
                <a:latin typeface="Calibri"/>
              </a:rPr>
              <a:t>Relatório Técnico de Evidências (DOCX anexo) disponível para impressão e entrega.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D88FF"/>
                </a:solidFill>
                <a:latin typeface="Calibri"/>
              </a:rPr>
              <a:t>Sophos Governança · Contrato Administrativo × Prefeitura Municipal de Sete Lagoas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8353769-DF6E-4859-A0B8-17E6D1CE0592}">
  <we:reference id="wa200010001" version="1.0.0.1" store="pt-BR" storeType="OMEX"/>
  <we:alternateReferences>
    <we:reference id="WA200010001" version="1.0.0.1" store="" storeType="OMEX"/>
  </we:alternateReferences>
  <we:properties>
    <we:property name="claude.fileId" value="&quot;62b5c38a-dc78-4205-95f4-b56c69042f7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1003</Words>
  <Application>Microsoft Office PowerPoint</Application>
  <PresentationFormat>Widescreen</PresentationFormat>
  <Paragraphs>147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</vt:lpstr>
      <vt:lpstr>Napzer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 Barcelos</cp:lastModifiedBy>
  <cp:revision>1</cp:revision>
  <dcterms:created xsi:type="dcterms:W3CDTF">2013-01-27T09:14:16Z</dcterms:created>
  <dcterms:modified xsi:type="dcterms:W3CDTF">2026-05-18T23:32:22Z</dcterms:modified>
  <cp:category/>
</cp:coreProperties>
</file>